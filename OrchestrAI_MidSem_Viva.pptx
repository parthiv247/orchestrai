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panel. Parthiv Patel, M.Tech AI &amp; ML, building OrchestrAI at Hevo Technologies. Mid-semester — 72% complete, all 10 agents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sections, 15 minutes total — roughly 2 minutes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3 problems are real Hevo operational pain points. Emphasise: no existing tool closes the FULL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O8 (benchmarking) is the core Semester 2 deliverable. O1-O7 all implemented at mid-semester.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platform with all 10. Monte Carlo: 6, Great Expectations: 4, Datafold: 4, dbt Cloud: 5. Key gap: no existing tool has autonomous fix + sandbox.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paper maps to a specific design decision. Highlight [10] Chandola: LOF O(n²) too slow, LSTM needs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3 complete, 4 partial. Activities 5 &amp; 6 are post mid-semester.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tiers — all stateless except persistence. Agents run in-process within FastAPI. Every tier communicates through well-defined interfaces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agents. PipelineHealingState TypedDict — no direct calls. ApprovalGateNode is a formal contractual boundary. LearningNode compounds effectiveness over time via 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72% overall. 6 of 10 modules complete. All 24 endpoints pass smoke test. Zero TypeScript errors. Remaining 28%: E2E healing loop with live database — Phase 2 post mid-semester.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7 mid-semester targets hit. 3 Post Mid rows are the research experiments — core empirical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screenshots from the working platform. AI Analyst: type plain English, get SQL, chart, and AI interpretation. Approval Panel shows fix diff + 12-check results + RAG similar past incidents.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checks in Docker. 4 ABORT = hard stop, escalate to operator. Makes fix proposals trustworthy — every change must pass before approval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 bugs — 3 root causes, all resolved before mid-semester checkpoint.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is the critical gate — all experiments depend on live data. Alembic migrations written and idempotent. 3 risks with contingencies defined.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Pre-registered: success criteria defined before data collection. Expt 1 paired t-test. Expt 2 public Spider benchmark. Expt 3 real Hevo Snowflake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energy. Platform is real, it works, it is at Hevo. Post mid-semester — 3 experiments prove the hypothesis. Open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91440"/>
            <a:ext cx="137160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972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Birla Institute of Technology &amp; Science, Pilani  |  Work-Integrated Learning Programme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7315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OrchestrAI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1664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Multi-Agent AI Platform for Self-Healing Data Pipelines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286000" y="2286000"/>
            <a:ext cx="45720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3774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Parthiv Patel  |  2024AA05129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Artificial Intelligence &amp; ML  |  BITS ZG628T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Partner: Hevo Technologies India Pvt. Ltd., Bengaluru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Mid-Semester Viva  |  June 2026</a:t>
            </a:r>
            <a:endParaRPr lang="en-US" sz="1400" dirty="0"/>
          </a:p>
        </p:txBody>
      </p:sp>
    </p:spTree>
  </p:cSld>
  <p:clrMapOvr>
    <a:masterClrMapping/>
  </p:clrMapOvr>
  <p:transition spd="med" advClick="1" advTm="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91440"/>
            <a:ext cx="8705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01168" y="704088"/>
            <a:ext cx="8686800" cy="2286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59536"/>
            <a:ext cx="420624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10896" y="859536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50976" y="1042416"/>
            <a:ext cx="22860" cy="45720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85953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1168" y="1883664"/>
            <a:ext cx="420624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0896" y="1883664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50976" y="2066544"/>
            <a:ext cx="22860" cy="45720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883664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Gap Analysis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1168" y="2907792"/>
            <a:ext cx="420624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0896" y="2907792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50976" y="3090672"/>
            <a:ext cx="22860" cy="45720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9077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 (DSR)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1168" y="3931920"/>
            <a:ext cx="420624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0896" y="39319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50976" y="4114800"/>
            <a:ext cx="22860" cy="45720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931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Design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859536"/>
            <a:ext cx="420624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73168" y="859536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413248" y="1042416"/>
            <a:ext cx="22860" cy="45720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59552" y="85953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Progress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1883664"/>
            <a:ext cx="420624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73168" y="1883664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413248" y="2066544"/>
            <a:ext cx="22860" cy="45720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9552" y="1883664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Validation &amp; Results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63440" y="2907792"/>
            <a:ext cx="420624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73168" y="2907792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413248" y="3090672"/>
            <a:ext cx="22860" cy="45720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59552" y="29077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Experiments &amp; Conclusion</a:t>
            </a:r>
            <a:endParaRPr lang="en-US" sz="1300" dirty="0"/>
          </a:p>
        </p:txBody>
      </p:sp>
    </p:spTree>
  </p:cSld>
  <p:clrMapOvr>
    <a:masterClrMapping/>
  </p:clrMapOvr>
  <p:transition spd="med" advClick="1" advTm="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91440"/>
            <a:ext cx="8705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 — The Problem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01168" y="704088"/>
            <a:ext cx="8686800" cy="2286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22960"/>
            <a:ext cx="2788920" cy="361188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822960"/>
            <a:ext cx="2788920" cy="502920"/>
          </a:xfrm>
          <a:prstGeom prst="roundRect">
            <a:avLst>
              <a:gd name="adj" fmla="val 2363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8412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Failures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" y="1408176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01168" y="21031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time wasted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" y="2423160"/>
            <a:ext cx="2578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changes, volume spikes &amp; late data propagate silently across Hevo's 500+ customer pipelines — no automated detection or recovery.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27248" y="822960"/>
            <a:ext cx="2788920" cy="361188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27248" y="822960"/>
            <a:ext cx="2788920" cy="502920"/>
          </a:xfrm>
          <a:prstGeom prst="roundRect">
            <a:avLst>
              <a:gd name="adj" fmla="val 2363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8412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Cost Overruns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27248" y="1408176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127248" y="21031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cost spike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36976" y="2423160"/>
            <a:ext cx="2578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partition filters &amp; unbounded cross joins inflate costs 10× with no alert. No tool today auto-rewrites the offending SQL.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53328" y="822960"/>
            <a:ext cx="2788920" cy="361188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53328" y="822960"/>
            <a:ext cx="2788920" cy="502920"/>
          </a:xfrm>
          <a:prstGeom prst="roundRect">
            <a:avLst>
              <a:gd name="adj" fmla="val 2363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8412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 Debt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53328" y="1408176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6053328" y="21031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engineering debt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63056" y="2423160"/>
            <a:ext cx="2578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dimensional modelling done by trial-and-error. Weeks of engineer time lost with no automated scaffolding or best-practice enforcement.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01168" y="4544568"/>
            <a:ext cx="8732520" cy="475488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4562856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open-source platform closes the full loop: detection → diagnosis → sandboxed fix → human approval → deployment</a:t>
            </a:r>
            <a:endParaRPr lang="en-US" sz="1300" dirty="0"/>
          </a:p>
        </p:txBody>
      </p:sp>
    </p:spTree>
  </p:cSld>
  <p:clrMapOvr>
    <a:masterClrMapping/>
  </p:clrMapOvr>
  <p:transition spd="med" advClick="1" advTm="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91440"/>
            <a:ext cx="8705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 — 8 Research Objectives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01168" y="704088"/>
            <a:ext cx="8686800" cy="2286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22960"/>
            <a:ext cx="420624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005840"/>
            <a:ext cx="566928" cy="5669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9264" y="877824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9264" y="1280160"/>
            <a:ext cx="336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graph of 10 specialised agents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20624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566928" cy="5669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31536" y="877824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Pipeline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31536" y="1280160"/>
            <a:ext cx="336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detect → diagnose → fix → deploy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" y="1892808"/>
            <a:ext cx="420624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2608" y="2075688"/>
            <a:ext cx="566928" cy="5669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9264" y="1947672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Cost Optimisation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9264" y="2350008"/>
            <a:ext cx="336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Optimizer Agent rewrites anti-patterns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892808"/>
            <a:ext cx="420624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075688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31536" y="1947672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Dimensional Modelling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31536" y="2350008"/>
            <a:ext cx="336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Auto-scaffold Kimball fact/dim models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1168" y="2962656"/>
            <a:ext cx="420624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2608" y="3145536"/>
            <a:ext cx="566928" cy="5669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3145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9264" y="301752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Visual Analytics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69264" y="3419856"/>
            <a:ext cx="336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→ SQL → interactive chart + insight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962656"/>
            <a:ext cx="420624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145536"/>
            <a:ext cx="566928" cy="5669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145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31536" y="301752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&amp; Observability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31536" y="3419856"/>
            <a:ext cx="336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OpenLineage + unified dashboard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01168" y="4032504"/>
            <a:ext cx="420624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92608" y="4215384"/>
            <a:ext cx="566928" cy="56692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" y="4215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9264" y="4087368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&amp; Security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69264" y="4489704"/>
            <a:ext cx="336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RBAC, Fernet credential encryption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4032504"/>
            <a:ext cx="420624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4215384"/>
            <a:ext cx="566928" cy="5669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215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31536" y="4087368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Benchmarking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431536" y="4489704"/>
            <a:ext cx="336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experiments: MTTR, NL-SQL accuracy, cost %</a:t>
            </a:r>
            <a:endParaRPr lang="en-US" sz="1100" dirty="0"/>
          </a:p>
        </p:txBody>
      </p:sp>
    </p:spTree>
  </p:cSld>
  <p:clrMapOvr>
    <a:masterClrMapping/>
  </p:clrMapOvr>
  <p:transition spd="med" advClick="1" advTm="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91440"/>
            <a:ext cx="8705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Literature Review — Feature Gap Analysis (Fig. 2.1)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01168" y="704088"/>
            <a:ext cx="8686800" cy="2286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777240"/>
            <a:ext cx="8732520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" y="5056632"/>
            <a:ext cx="8732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2.1 — OrchestrAI is the only platform with all 10 capabilities. Source: official documentation, May 2025.</a:t>
            </a:r>
            <a:endParaRPr lang="en-US" sz="900" dirty="0"/>
          </a:p>
        </p:txBody>
      </p:sp>
    </p:spTree>
  </p:cSld>
  <p:clrMapOvr>
    <a:masterClrMapping/>
  </p:clrMapOvr>
  <p:transition spd="med" advClick="1" advTm="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91440"/>
            <a:ext cx="8705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Literature Review — 11 Papers → Design Decisions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01168" y="704088"/>
            <a:ext cx="8686800" cy="2286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22960"/>
            <a:ext cx="420624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10896" y="87782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Sculley et al.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0896" y="115214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Technical Debt in ML Systems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0896" y="138988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OpenLineage real-time failure event stream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822960"/>
            <a:ext cx="420624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27448" y="87782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Breck et al.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27448" y="115214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Data Validation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27448" y="138988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Schema registry + fingerprint drift detection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1168" y="1828800"/>
            <a:ext cx="420624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0896" y="188366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LangChain 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0896" y="215798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framework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0896" y="239572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StateGraph with conditional edge routing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1828800"/>
            <a:ext cx="420624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27448" y="188366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Lewis et al.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27448" y="215798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NLP Tasks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27448" y="239572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ChromaDB fix retrieval for Fix Writer Agent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1168" y="2834640"/>
            <a:ext cx="420624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10896" y="28895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Yao et al.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0896" y="316382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Reasoning + Acting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0896" y="340156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Scratchpad in Diagnosis &amp; Fix Writer agents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2834640"/>
            <a:ext cx="420624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27448" y="28895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Chandola et al.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27448" y="316382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Survey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27448" y="340156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Isolation Forest selected over LOF &amp; LSTM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01168" y="3840480"/>
            <a:ext cx="873252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47472" y="3913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Seshia et al.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7472" y="42428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CPS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0" y="4023360"/>
            <a:ext cx="22860" cy="45720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67328" y="4023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Approval Gate as formal graph boundary</a:t>
            </a:r>
            <a:endParaRPr lang="en-US" sz="1200" dirty="0"/>
          </a:p>
        </p:txBody>
      </p:sp>
    </p:spTree>
  </p:cSld>
  <p:clrMapOvr>
    <a:masterClrMapping/>
  </p:clrMapOvr>
  <p:transition spd="med" advClick="1" advTm="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91440"/>
            <a:ext cx="8705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Research Methodology — Design Science Research (Hevner 2004)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01168" y="704088"/>
            <a:ext cx="8686800" cy="2286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22960"/>
            <a:ext cx="347472" cy="548640"/>
          </a:xfrm>
          <a:prstGeom prst="rect">
            <a:avLst/>
          </a:prstGeom>
          <a:solidFill>
            <a:srgbClr val="1E3A8A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144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822960"/>
            <a:ext cx="2103120" cy="548640"/>
          </a:xfrm>
          <a:prstGeom prst="rect">
            <a:avLst/>
          </a:prstGeom>
          <a:solidFill>
            <a:srgbClr val="1E3A8A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91440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DSR Activity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822960"/>
            <a:ext cx="4572000" cy="548640"/>
          </a:xfrm>
          <a:prstGeom prst="rect">
            <a:avLst/>
          </a:prstGeom>
          <a:solidFill>
            <a:srgbClr val="1E3A8A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06624" y="914400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OrchestrAI Deliverable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23760" y="822960"/>
            <a:ext cx="1463040" cy="548640"/>
          </a:xfrm>
          <a:prstGeom prst="rect">
            <a:avLst/>
          </a:prstGeom>
          <a:solidFill>
            <a:srgbClr val="1E3A8A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78624" y="91440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" y="1371600"/>
            <a:ext cx="347472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46304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210312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14630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651760" y="1371600"/>
            <a:ext cx="457200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06624" y="1463040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1.1–1.2 industrial motivation at Hevo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23760" y="1371600"/>
            <a:ext cx="146304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88352" y="1517904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88352" y="15179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1168" y="1920240"/>
            <a:ext cx="34747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0116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1920240"/>
            <a:ext cx="2103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20116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Objectives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651760" y="1920240"/>
            <a:ext cx="4572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06624" y="2011680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measurable objectives with quantitative criteria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223760" y="1920240"/>
            <a:ext cx="1463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2066544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0665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1168" y="2468880"/>
            <a:ext cx="347472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25603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2468880"/>
            <a:ext cx="210312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25603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Development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651760" y="2468880"/>
            <a:ext cx="457200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06624" y="2560320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sprints → 42 files, 24 endpoints, 10 agents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223760" y="2468880"/>
            <a:ext cx="146304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88352" y="2615184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88352" y="26151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01168" y="3017520"/>
            <a:ext cx="34747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" y="31089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48640" y="3017520"/>
            <a:ext cx="2103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" y="31089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651760" y="3017520"/>
            <a:ext cx="4572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06624" y="3108960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sandbox; 20-failure injection harness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7223760" y="3017520"/>
            <a:ext cx="1463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96912" y="3163824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96912" y="31638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Mid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01168" y="3566160"/>
            <a:ext cx="347472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" y="36576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48640" y="3566160"/>
            <a:ext cx="210312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3504" y="365760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2651760" y="3566160"/>
            <a:ext cx="457200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06624" y="3657600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experiments: MTTR, NL-SQL accuracy, cost reduction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7223760" y="3566160"/>
            <a:ext cx="146304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96912" y="3712464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96912" y="3712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Mid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01168" y="4114800"/>
            <a:ext cx="34747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6032" y="420624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548640" y="4114800"/>
            <a:ext cx="2103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3504" y="42062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2651760" y="4114800"/>
            <a:ext cx="4572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06624" y="4206240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+ oral defence + demo video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7223760" y="4114800"/>
            <a:ext cx="1463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296912" y="4261104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96912" y="42611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201168" y="5010912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DSR: OrchestrAI's value is inseparable from its demonstrated artefact — theory alone cannot validate a self-healing platform.</a:t>
            </a:r>
            <a:endParaRPr lang="en-US" sz="1100" dirty="0"/>
          </a:p>
        </p:txBody>
      </p:sp>
    </p:spTree>
  </p:cSld>
  <p:clrMapOvr>
    <a:masterClrMapping/>
  </p:clrMapOvr>
  <p:transition spd="med" advClick="1" advTm="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91440"/>
            <a:ext cx="8705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System Architecture — Four-Tier Platform (Fig. 1)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01168" y="704088"/>
            <a:ext cx="8686800" cy="2286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777240"/>
            <a:ext cx="5669280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804672"/>
            <a:ext cx="288036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0" y="804672"/>
            <a:ext cx="164592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91072" y="8961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91072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 ·  12 pages  ·  TypeScript 5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35040" y="1874520"/>
            <a:ext cx="288036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35040" y="1874520"/>
            <a:ext cx="164592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91072" y="1965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291072" y="23500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24 REST endpoints  ·  JWT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35040" y="2944368"/>
            <a:ext cx="288036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35040" y="2944368"/>
            <a:ext cx="164592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91072" y="30358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Tier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291072" y="34198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 ·  10 nodes  ·  PipelineHealingState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035040" y="4014216"/>
            <a:ext cx="288036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35040" y="4014216"/>
            <a:ext cx="164592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91072" y="41056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Tier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291072" y="44897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+  Snowflake  +  ChromaDB  +  Marquez</a:t>
            </a:r>
            <a:endParaRPr lang="en-US" sz="1050" dirty="0"/>
          </a:p>
        </p:txBody>
      </p:sp>
    </p:spTree>
  </p:cSld>
  <p:clrMapOvr>
    <a:masterClrMapping/>
  </p:clrMapOvr>
  <p:transition spd="med" advClick="1" advTm="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91440"/>
            <a:ext cx="8705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Multi-Agent Orchestration (Fig. 2)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01168" y="704088"/>
            <a:ext cx="8686800" cy="2286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777240"/>
            <a:ext cx="5623560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804672"/>
            <a:ext cx="288036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26480" y="987552"/>
            <a:ext cx="566928" cy="56692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987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784848" y="89611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Nodes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784848" y="126187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share PipelineHealingState — zero direct calls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035040" y="1874520"/>
            <a:ext cx="288036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26480" y="2057400"/>
            <a:ext cx="566928" cy="5669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784848" y="19659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Retrieval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784848" y="233172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 — past fixes by similarity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35040" y="2944368"/>
            <a:ext cx="288036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3127248"/>
            <a:ext cx="566928" cy="5669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0" y="3127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784848" y="30358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784848" y="340156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 boundary — no fix deploys without sign-off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035040" y="4014216"/>
            <a:ext cx="288036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26480" y="4197096"/>
            <a:ext cx="566928" cy="5669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26480" y="4197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784848" y="410565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Checks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784848" y="447141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isolation — ABORT / FAIL / WARN severity</a:t>
            </a:r>
            <a:endParaRPr lang="en-US" sz="1050" dirty="0"/>
          </a:p>
        </p:txBody>
      </p:sp>
    </p:spTree>
  </p:cSld>
  <p:clrMapOvr>
    <a:masterClrMapping/>
  </p:clrMapOvr>
  <p:transition spd="med" advClick="1" advTm="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91440"/>
            <a:ext cx="8705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Data Collection &amp; Mid-Semester Progress (Fig. 7)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01168" y="704088"/>
            <a:ext cx="8686800" cy="2286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22960"/>
            <a:ext cx="2743200" cy="1005840"/>
          </a:xfrm>
          <a:prstGeom prst="roundRect">
            <a:avLst>
              <a:gd name="adj" fmla="val 11818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822960"/>
            <a:ext cx="27432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89611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01168" y="1508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Complete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822960"/>
            <a:ext cx="2743200" cy="1005840"/>
          </a:xfrm>
          <a:prstGeom prst="roundRect">
            <a:avLst>
              <a:gd name="adj" fmla="val 11818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822960"/>
            <a:ext cx="27432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89611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108960" y="1508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16752" y="822960"/>
            <a:ext cx="2743200" cy="1005840"/>
          </a:xfrm>
          <a:prstGeom prst="roundRect">
            <a:avLst>
              <a:gd name="adj" fmla="val 11818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16752" y="822960"/>
            <a:ext cx="2743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16752" y="89611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016752" y="1508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Nodes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" y="1920240"/>
            <a:ext cx="27432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192024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1984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01168" y="2468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Pages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08960" y="1920240"/>
            <a:ext cx="27432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08960" y="1920240"/>
            <a:ext cx="2743200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1984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108960" y="2468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16752" y="1920240"/>
            <a:ext cx="27432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16752" y="1920240"/>
            <a:ext cx="27432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16752" y="1984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016752" y="2468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Resolved</a:t>
            </a:r>
            <a:endParaRPr lang="en-US" sz="105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834640"/>
            <a:ext cx="8732520" cy="2176272"/>
          </a:xfrm>
          <a:prstGeom prst="rect">
            <a:avLst/>
          </a:prstGeom>
        </p:spPr>
      </p:pic>
    </p:spTree>
  </p:cSld>
  <p:clrMapOvr>
    <a:masterClrMapping/>
  </p:clrMapOvr>
  <p:transition spd="med" advClick="1" advTm="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91440"/>
            <a:ext cx="8705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Engineering Validation — Mid-Semester Metrics (Table 4)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01168" y="704088"/>
            <a:ext cx="8686800" cy="2286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777240"/>
            <a:ext cx="3977640" cy="374904"/>
          </a:xfrm>
          <a:prstGeom prst="rect">
            <a:avLst/>
          </a:prstGeom>
          <a:solidFill>
            <a:srgbClr val="1E3A8A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32104"/>
            <a:ext cx="3886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78808" y="777240"/>
            <a:ext cx="1389888" cy="374904"/>
          </a:xfrm>
          <a:prstGeom prst="rect">
            <a:avLst/>
          </a:prstGeom>
          <a:solidFill>
            <a:srgbClr val="1E3A8A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33672" y="832104"/>
            <a:ext cx="1298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568696" y="777240"/>
            <a:ext cx="1536192" cy="374904"/>
          </a:xfrm>
          <a:prstGeom prst="rect">
            <a:avLst/>
          </a:prstGeom>
          <a:solidFill>
            <a:srgbClr val="1E3A8A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832104"/>
            <a:ext cx="1444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04888" y="777240"/>
            <a:ext cx="1572768" cy="374904"/>
          </a:xfrm>
          <a:prstGeom prst="rect">
            <a:avLst/>
          </a:prstGeom>
          <a:solidFill>
            <a:srgbClr val="1E3A8A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59752" y="832104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01168" y="1152144"/>
            <a:ext cx="3977640" cy="37490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207008"/>
            <a:ext cx="3886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 passing smoke test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78808" y="1152144"/>
            <a:ext cx="1389888" cy="37490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33672" y="1207008"/>
            <a:ext cx="1298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68696" y="1152144"/>
            <a:ext cx="1536192" cy="37490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1207008"/>
            <a:ext cx="1444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04888" y="1152144"/>
            <a:ext cx="1572768" cy="37490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06056" y="1225296"/>
            <a:ext cx="822960" cy="237744"/>
          </a:xfrm>
          <a:prstGeom prst="roundRect">
            <a:avLst>
              <a:gd name="adj" fmla="val 2307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06056" y="12252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1168" y="1527048"/>
            <a:ext cx="39776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1581912"/>
            <a:ext cx="3886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compilation errors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78808" y="1527048"/>
            <a:ext cx="1389888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33672" y="1581912"/>
            <a:ext cx="1298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68696" y="1527048"/>
            <a:ext cx="1536192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3560" y="1581912"/>
            <a:ext cx="1444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04888" y="1527048"/>
            <a:ext cx="1572768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06056" y="1600200"/>
            <a:ext cx="822960" cy="237744"/>
          </a:xfrm>
          <a:prstGeom prst="roundRect">
            <a:avLst>
              <a:gd name="adj" fmla="val 2307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06056" y="16002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1168" y="1901952"/>
            <a:ext cx="3977640" cy="37490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1956816"/>
            <a:ext cx="3886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pages compiled &amp; routable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78808" y="1901952"/>
            <a:ext cx="1389888" cy="37490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33672" y="1956816"/>
            <a:ext cx="1298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68696" y="1901952"/>
            <a:ext cx="1536192" cy="37490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23560" y="1956816"/>
            <a:ext cx="1444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104888" y="1901952"/>
            <a:ext cx="1572768" cy="37490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06056" y="1975104"/>
            <a:ext cx="822960" cy="237744"/>
          </a:xfrm>
          <a:prstGeom prst="roundRect">
            <a:avLst>
              <a:gd name="adj" fmla="val 2307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06056" y="19751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01168" y="2276856"/>
            <a:ext cx="39776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" y="2331720"/>
            <a:ext cx="3886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 nodes implemented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178808" y="2276856"/>
            <a:ext cx="1389888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33672" y="2331720"/>
            <a:ext cx="1298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568696" y="2276856"/>
            <a:ext cx="1536192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23560" y="2331720"/>
            <a:ext cx="1444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104888" y="2276856"/>
            <a:ext cx="1572768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06056" y="2350008"/>
            <a:ext cx="822960" cy="237744"/>
          </a:xfrm>
          <a:prstGeom prst="roundRect">
            <a:avLst>
              <a:gd name="adj" fmla="val 2307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06056" y="23500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01168" y="2651760"/>
            <a:ext cx="3977640" cy="37490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" y="2706624"/>
            <a:ext cx="3886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12-check suite implemented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178808" y="2651760"/>
            <a:ext cx="1389888" cy="37490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33672" y="2706624"/>
            <a:ext cx="1298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568696" y="2651760"/>
            <a:ext cx="1536192" cy="37490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23560" y="2706624"/>
            <a:ext cx="1444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104888" y="2651760"/>
            <a:ext cx="1572768" cy="37490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06056" y="2724912"/>
            <a:ext cx="822960" cy="237744"/>
          </a:xfrm>
          <a:prstGeom prst="roundRect">
            <a:avLst>
              <a:gd name="adj" fmla="val 2307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06056" y="27249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01168" y="3026664"/>
            <a:ext cx="39776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6032" y="3081528"/>
            <a:ext cx="3886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bugs resolved (integration)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178808" y="3026664"/>
            <a:ext cx="1389888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33672" y="3081528"/>
            <a:ext cx="1298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568696" y="3026664"/>
            <a:ext cx="1536192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23560" y="3081528"/>
            <a:ext cx="1444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19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104888" y="3026664"/>
            <a:ext cx="1572768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06056" y="3099816"/>
            <a:ext cx="822960" cy="237744"/>
          </a:xfrm>
          <a:prstGeom prst="roundRect">
            <a:avLst>
              <a:gd name="adj" fmla="val 2307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06056" y="30998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01168" y="3401568"/>
            <a:ext cx="3977640" cy="37490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56032" y="3456432"/>
            <a:ext cx="3886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platform completion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178808" y="3401568"/>
            <a:ext cx="1389888" cy="37490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33672" y="3456432"/>
            <a:ext cx="1298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&gt;=70%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568696" y="3401568"/>
            <a:ext cx="1536192" cy="37490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23560" y="3456432"/>
            <a:ext cx="1444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104888" y="3401568"/>
            <a:ext cx="1572768" cy="37490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06056" y="3474720"/>
            <a:ext cx="822960" cy="237744"/>
          </a:xfrm>
          <a:prstGeom prst="roundRect">
            <a:avLst>
              <a:gd name="adj" fmla="val 2307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06056" y="34747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01168" y="3776472"/>
            <a:ext cx="39776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56032" y="3831336"/>
            <a:ext cx="3886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healing loop (live DB)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4178808" y="3776472"/>
            <a:ext cx="1389888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233672" y="3831336"/>
            <a:ext cx="1298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5568696" y="3776472"/>
            <a:ext cx="1536192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623560" y="3831336"/>
            <a:ext cx="1444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— Post Mid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7104888" y="3776472"/>
            <a:ext cx="1572768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06056" y="3849624"/>
            <a:ext cx="822960" cy="237744"/>
          </a:xfrm>
          <a:prstGeom prst="roundRect">
            <a:avLst>
              <a:gd name="adj" fmla="val 2307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306056" y="38496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Mid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201168" y="4151376"/>
            <a:ext cx="3977640" cy="37490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56032" y="4206240"/>
            <a:ext cx="3886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reduction vs. baseline (Expt 1)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178808" y="4151376"/>
            <a:ext cx="1389888" cy="37490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233672" y="4206240"/>
            <a:ext cx="1298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&gt;=50%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5568696" y="4151376"/>
            <a:ext cx="1536192" cy="37490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623560" y="4206240"/>
            <a:ext cx="1444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7104888" y="4151376"/>
            <a:ext cx="1572768" cy="37490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06056" y="4224528"/>
            <a:ext cx="822960" cy="237744"/>
          </a:xfrm>
          <a:prstGeom prst="roundRect">
            <a:avLst>
              <a:gd name="adj" fmla="val 2307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306056" y="42245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Mid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201168" y="4526280"/>
            <a:ext cx="39776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56032" y="4581144"/>
            <a:ext cx="3886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NL-SQL accuracy on Spider (Expt 2)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4178808" y="4526280"/>
            <a:ext cx="1389888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233672" y="4581144"/>
            <a:ext cx="1298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&gt;=65%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5568696" y="4526280"/>
            <a:ext cx="1536192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623560" y="4581144"/>
            <a:ext cx="1444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7104888" y="4526280"/>
            <a:ext cx="1572768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06056" y="4599432"/>
            <a:ext cx="822960" cy="237744"/>
          </a:xfrm>
          <a:prstGeom prst="roundRect">
            <a:avLst>
              <a:gd name="adj" fmla="val 2307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306056" y="45994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Mid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201168" y="4809744"/>
            <a:ext cx="8732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= Achieved at mid-semester   |   Post Mid = Planned post mid-semester</a:t>
            </a:r>
            <a:endParaRPr lang="en-US" sz="1000" dirty="0"/>
          </a:p>
        </p:txBody>
      </p:sp>
    </p:spTree>
  </p:cSld>
  <p:clrMapOvr>
    <a:masterClrMapping/>
  </p:clrMapOvr>
  <p:transition spd="med" advClick="1" advTm="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91440"/>
            <a:ext cx="8705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Platform UI — Dashboard, Approval Panel &amp; AI Analyst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01168" y="704088"/>
            <a:ext cx="8686800" cy="2286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795528"/>
            <a:ext cx="4251960" cy="2148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" y="2962656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8: Pipeline Dashboard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795528"/>
            <a:ext cx="4270248" cy="2148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440" y="2962656"/>
            <a:ext cx="4270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9: Human Approval Panel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3218688"/>
            <a:ext cx="8732520" cy="17190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1168" y="4956048"/>
            <a:ext cx="8732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10: AI Analyst — Natural Language → SQL → Chart → AI Insight</a:t>
            </a:r>
            <a:endParaRPr lang="en-US" sz="1000" dirty="0"/>
          </a:p>
        </p:txBody>
      </p:sp>
    </p:spTree>
  </p:cSld>
  <p:clrMapOvr>
    <a:masterClrMapping/>
  </p:clrMapOvr>
  <p:transition spd="med" advClick="1" advTm="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91440"/>
            <a:ext cx="8705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Validation — Docker Sandbox 12-Check Test Suite (Table 2)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01168" y="704088"/>
            <a:ext cx="8686800" cy="2286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22960"/>
            <a:ext cx="2788920" cy="850392"/>
          </a:xfrm>
          <a:prstGeom prst="roundRect">
            <a:avLst>
              <a:gd name="adj" fmla="val 13978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97840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978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89611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 Minimum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86968" y="1371600"/>
            <a:ext cx="658368" cy="2286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7160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27248" y="822960"/>
            <a:ext cx="2788920" cy="850392"/>
          </a:xfrm>
          <a:prstGeom prst="roundRect">
            <a:avLst>
              <a:gd name="adj" fmla="val 13978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97840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978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13048" y="89611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 Stability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13048" y="1371600"/>
            <a:ext cx="658368" cy="2286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13048" y="137160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53328" y="822960"/>
            <a:ext cx="2788920" cy="850392"/>
          </a:xfrm>
          <a:prstGeom prst="roundRect">
            <a:avLst>
              <a:gd name="adj" fmla="val 13978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44768" y="978408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978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39128" y="89611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Rate per Column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39128" y="1371600"/>
            <a:ext cx="658368" cy="228600"/>
          </a:xfrm>
          <a:prstGeom prst="roundRect">
            <a:avLst>
              <a:gd name="adj" fmla="val 20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9128" y="137160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1168" y="1783080"/>
            <a:ext cx="2788920" cy="850392"/>
          </a:xfrm>
          <a:prstGeom prst="roundRect">
            <a:avLst>
              <a:gd name="adj" fmla="val 13978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92608" y="1938528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86968" y="185623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Null Columns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86968" y="2331720"/>
            <a:ext cx="658368" cy="228600"/>
          </a:xfrm>
          <a:prstGeom prst="roundRect">
            <a:avLst>
              <a:gd name="adj" fmla="val 20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" y="233172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27248" y="1783080"/>
            <a:ext cx="2788920" cy="850392"/>
          </a:xfrm>
          <a:prstGeom prst="roundRect">
            <a:avLst>
              <a:gd name="adj" fmla="val 13978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18688" y="193852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813048" y="185623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Uniqueness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813048" y="2331720"/>
            <a:ext cx="658368" cy="2286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13048" y="233172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53328" y="1783080"/>
            <a:ext cx="2788920" cy="850392"/>
          </a:xfrm>
          <a:prstGeom prst="roundRect">
            <a:avLst>
              <a:gd name="adj" fmla="val 13978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44768" y="1938528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39128" y="185623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Integrity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39128" y="2331720"/>
            <a:ext cx="658368" cy="228600"/>
          </a:xfrm>
          <a:prstGeom prst="roundRect">
            <a:avLst>
              <a:gd name="adj" fmla="val 20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39128" y="233172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01168" y="2743200"/>
            <a:ext cx="2788920" cy="850392"/>
          </a:xfrm>
          <a:prstGeom prst="roundRect">
            <a:avLst>
              <a:gd name="adj" fmla="val 13978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92608" y="289864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2608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86968" y="281635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Consistency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86968" y="3291840"/>
            <a:ext cx="658368" cy="2286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6968" y="32918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127248" y="2743200"/>
            <a:ext cx="2788920" cy="850392"/>
          </a:xfrm>
          <a:prstGeom prst="roundRect">
            <a:avLst>
              <a:gd name="adj" fmla="val 13978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18688" y="2898648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18688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3813048" y="281635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Fingerprint Match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813048" y="3291840"/>
            <a:ext cx="658368" cy="228600"/>
          </a:xfrm>
          <a:prstGeom prst="roundRect">
            <a:avLst>
              <a:gd name="adj" fmla="val 20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13048" y="32918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053328" y="2743200"/>
            <a:ext cx="2788920" cy="850392"/>
          </a:xfrm>
          <a:prstGeom prst="roundRect">
            <a:avLst>
              <a:gd name="adj" fmla="val 13978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44768" y="289864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44768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739128" y="281635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Mean Drift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739128" y="3291840"/>
            <a:ext cx="658368" cy="2286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39128" y="32918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01168" y="3703320"/>
            <a:ext cx="2788920" cy="850392"/>
          </a:xfrm>
          <a:prstGeom prst="roundRect">
            <a:avLst>
              <a:gd name="adj" fmla="val 13978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292608" y="385876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2608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886968" y="377647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Value Set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86968" y="4251960"/>
            <a:ext cx="658368" cy="2286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86968" y="42519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127248" y="3703320"/>
            <a:ext cx="2788920" cy="850392"/>
          </a:xfrm>
          <a:prstGeom prst="roundRect">
            <a:avLst>
              <a:gd name="adj" fmla="val 13978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3218688" y="3858768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18688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3813048" y="377647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All-Null Columns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813048" y="4251960"/>
            <a:ext cx="658368" cy="228600"/>
          </a:xfrm>
          <a:prstGeom prst="roundRect">
            <a:avLst>
              <a:gd name="adj" fmla="val 20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13048" y="42519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053328" y="3703320"/>
            <a:ext cx="2788920" cy="850392"/>
          </a:xfrm>
          <a:prstGeom prst="roundRect">
            <a:avLst>
              <a:gd name="adj" fmla="val 13978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144768" y="385876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44768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6739128" y="377647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 Limit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739128" y="4251960"/>
            <a:ext cx="658368" cy="2286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39128" y="42519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01168" y="4800600"/>
            <a:ext cx="164592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29768" y="480060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(4): Hard stop, escalate immediately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127248" y="4800600"/>
            <a:ext cx="164592" cy="2468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355848" y="480060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(5): Configurable — stop or continue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053328" y="4800600"/>
            <a:ext cx="164592" cy="246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81928" y="480060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(3): Log &amp; continue, no block</a:t>
            </a:r>
            <a:endParaRPr lang="en-US" sz="1000" dirty="0"/>
          </a:p>
        </p:txBody>
      </p:sp>
    </p:spTree>
  </p:cSld>
  <p:clrMapOvr>
    <a:masterClrMapping/>
  </p:clrMapOvr>
  <p:transition spd="med" advClick="1" advTm="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91440"/>
            <a:ext cx="8705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Engineering Validation — 19 Bugs Identified &amp; Resolved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01168" y="704088"/>
            <a:ext cx="8686800" cy="2286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04672"/>
            <a:ext cx="2788920" cy="352044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804672"/>
            <a:ext cx="2788920" cy="475488"/>
          </a:xfrm>
          <a:prstGeom prst="roundRect">
            <a:avLst>
              <a:gd name="adj" fmla="val 2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8229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Prefix Conflicts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029968" y="822960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endpoints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" y="1371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Double-prefix: /api/pipelines → /pipelines/api/pipelines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608" y="203911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Missing prefix: connectors omitted /api/ segment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" y="270662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PII endpoints repeated router prefix in path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2608" y="3374136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Fix: aligned path declarations with include_router prefix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27248" y="804672"/>
            <a:ext cx="2788920" cy="352044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27248" y="804672"/>
            <a:ext cx="2788920" cy="475488"/>
          </a:xfrm>
          <a:prstGeom prst="roundRect">
            <a:avLst>
              <a:gd name="adj" fmla="val 2307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8229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DB-Unavailable Crashes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56048" y="822960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endpoints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18688" y="1371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psycopg2 raised unhandled exception → 500 errors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18688" y="203911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Extended try/except + demo data fallback pattern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18688" y="270662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Applied consistently: analytics, settings, auth, reports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18688" y="3374136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 data structurally identical to live responses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53328" y="804672"/>
            <a:ext cx="2788920" cy="352044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53328" y="804672"/>
            <a:ext cx="2788920" cy="475488"/>
          </a:xfrm>
          <a:prstGeom prst="roundRect">
            <a:avLst>
              <a:gd name="adj" fmla="val 23077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8229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Python Dependency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882128" y="822960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module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44768" y="1371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sqlparse imported at module scope — not in requirements.txt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44768" y="203911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ModuleNotFoundError crashed all /api/insights routes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44768" y="270662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Resolved: pip install sqlparse + pinned in requirements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44768" y="3374136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Outcome: complete requirements.txt now maintained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01168" y="4407408"/>
            <a:ext cx="8732520" cy="512064"/>
          </a:xfrm>
          <a:prstGeom prst="roundRect">
            <a:avLst>
              <a:gd name="adj" fmla="val 23214"/>
            </a:avLst>
          </a:prstGeom>
          <a:solidFill>
            <a:srgbClr val="1E3A8A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4425696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100% pass rate across all 24 endpoints  ·  Stable across 5 consecutive test runs</a:t>
            </a:r>
            <a:endParaRPr lang="en-US" sz="1300" dirty="0"/>
          </a:p>
        </p:txBody>
      </p:sp>
    </p:spTree>
  </p:cSld>
  <p:clrMapOvr>
    <a:masterClrMapping/>
  </p:clrMapOvr>
  <p:transition spd="med" advClick="1" advTm="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91440"/>
            <a:ext cx="8705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Post Mid-Semester Roadmap — 4 Phases (Fig. 6)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01168" y="704088"/>
            <a:ext cx="8686800" cy="2286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777240"/>
            <a:ext cx="873252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1168" y="4114800"/>
            <a:ext cx="2039112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01168" y="4114800"/>
            <a:ext cx="2039112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4187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92608" y="4187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1–3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92608" y="44988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live · remove fallbacks · seed real data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377440" y="4114800"/>
            <a:ext cx="2039112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377440" y="4114800"/>
            <a:ext cx="2039112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0" y="4187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468880" y="4187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4–6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468880" y="44988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healing loop · 20 failure injections · Slack alerts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53712" y="4114800"/>
            <a:ext cx="2039112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53712" y="4114800"/>
            <a:ext cx="2039112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45152" y="4187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645152" y="4187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7–9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645152" y="44988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experiments · Spider NL-SQL · SUS usability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729984" y="4114800"/>
            <a:ext cx="2039112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729984" y="4114800"/>
            <a:ext cx="203911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21424" y="4187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821424" y="4187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10–12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821424" y="44988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dissertation · oral defence · demo video</a:t>
            </a:r>
            <a:endParaRPr lang="en-US" sz="1000" dirty="0"/>
          </a:p>
        </p:txBody>
      </p:sp>
    </p:spTree>
  </p:cSld>
  <p:clrMapOvr>
    <a:masterClrMapping/>
  </p:clrMapOvr>
  <p:transition spd="med" advClick="1" advTm="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91440"/>
            <a:ext cx="8705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Post Mid-Semester — 3 Pre-Registered Experiments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01168" y="704088"/>
            <a:ext cx="8686800" cy="2286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04672"/>
            <a:ext cx="87325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133856"/>
            <a:ext cx="594360" cy="5943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1338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8961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Effectiveness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914400"/>
            <a:ext cx="2395728" cy="347472"/>
          </a:xfrm>
          <a:prstGeom prst="roundRect">
            <a:avLst>
              <a:gd name="adj" fmla="val 2105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91440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&gt;50% MTTR reduction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335024"/>
            <a:ext cx="7790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20 injected failures × 5 failure types × 5 repetitions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645920"/>
            <a:ext cx="7790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Paired t-test α=0.05 vs rule-based &amp; no-healing baselines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" y="2240280"/>
            <a:ext cx="87325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2608" y="2569464"/>
            <a:ext cx="594360" cy="5943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25694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23317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NL-to-SQL Accuracy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2350008"/>
            <a:ext cx="2395728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35000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&gt;65% exact match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770632"/>
            <a:ext cx="7790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Spider v1.0 full test set (~1,034 questions)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081528"/>
            <a:ext cx="7790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Standard Spider eval script · two-stage correction loop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" y="3675888"/>
            <a:ext cx="87325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2700000">
              <a:srgbClr val="1E3A8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2608" y="4005072"/>
            <a:ext cx="594360" cy="5943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40050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37673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Cost Reduction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3785616"/>
            <a:ext cx="2395728" cy="347472"/>
          </a:xfrm>
          <a:prstGeom prst="roundRect">
            <a:avLst>
              <a:gd name="adj" fmla="val 2105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785616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&gt;30% savings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4206240"/>
            <a:ext cx="7790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30 representative Snowflake queries · before/after credit usage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4517136"/>
            <a:ext cx="7790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Cost Optimizer Agent rewrite · Snowflake pricing model</a:t>
            </a:r>
            <a:endParaRPr lang="en-US" sz="1100" dirty="0"/>
          </a:p>
        </p:txBody>
      </p:sp>
    </p:spTree>
  </p:cSld>
  <p:clrMapOvr>
    <a:masterClrMapping/>
  </p:clrMapOvr>
  <p:transition spd="med" advClick="1" advTm="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What's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499616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48256" y="749808"/>
            <a:ext cx="1499616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48256" y="768096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48256" y="12618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30752" y="749808"/>
            <a:ext cx="1499616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0752" y="768096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730752" y="12618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Checks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13248" y="749808"/>
            <a:ext cx="1499616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13248" y="768096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13248" y="12618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95744" y="749808"/>
            <a:ext cx="1499616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95744" y="768096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95744" y="12618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Fixed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1737360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737360"/>
            <a:ext cx="749808" cy="804672"/>
          </a:xfrm>
          <a:prstGeom prst="roundRect">
            <a:avLst>
              <a:gd name="adj" fmla="val 12195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737360"/>
            <a:ext cx="7498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70432" y="1792224"/>
            <a:ext cx="7543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end-to-end self-healing loop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70432" y="2121408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→ diagnose → write fix → sandbox test → human approval → deploy → learn. No existing open-source tool does all seven steps.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633472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633472"/>
            <a:ext cx="749808" cy="804672"/>
          </a:xfrm>
          <a:prstGeom prst="roundRect">
            <a:avLst>
              <a:gd name="adj" fmla="val 1219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633472"/>
            <a:ext cx="7498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70432" y="2688336"/>
            <a:ext cx="7543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Production-ready, not a prototype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70432" y="301752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REST endpoints, 12 UI pages, zero TypeScript errors — all 24 endpoints smoke-tested across 5 consecutive clean runs at Hevo Technologies.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529584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529584"/>
            <a:ext cx="749808" cy="804672"/>
          </a:xfrm>
          <a:prstGeom prst="roundRect">
            <a:avLst>
              <a:gd name="adj" fmla="val 1219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529584"/>
            <a:ext cx="7498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70432" y="3584448"/>
            <a:ext cx="7543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mid-semester: prove the thesis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70432" y="3913632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pre-registered experiments — MTTR reduction, NL-SQL accuracy (Spider v1.0), Snowflake cost savings. Success criteria locked before data collection.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371600" y="4425696"/>
            <a:ext cx="64008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480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 welcome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Parthiv Patel  |  2024AA05129  |  M.Tech AI &amp; ML  |  BITS ZG628T</a:t>
            </a:r>
            <a:endParaRPr lang="en-US" sz="1100" dirty="0"/>
          </a:p>
        </p:txBody>
      </p:sp>
    </p:spTree>
  </p:cSld>
  <p:clrMapOvr>
    <a:masterClrMapping/>
  </p:clrMapOvr>
  <p:transition spd="med" advClick="1" advTm="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OrchestrAI — Mid-Semester Viva</dc:title>
  <dc:subject>PptxGenJS Presentation</dc:subject>
  <dc:creator>Parthiv Patel</dc:creator>
  <cp:lastModifiedBy>Parthiv Patel</cp:lastModifiedBy>
  <cp:revision>1</cp:revision>
  <dcterms:created xsi:type="dcterms:W3CDTF">2026-06-27T12:10:18Z</dcterms:created>
  <dcterms:modified xsi:type="dcterms:W3CDTF">2026-06-27T12:10:18Z</dcterms:modified>
</cp:coreProperties>
</file>