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introduce OrchestrAI project, BITS Pilani MTech final viva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the problem: 44% sprint capacity lost, 2378s MTTR, $1.7M annual downtime cost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DSR methodology with 5 phases. 6 measurable research objectives all with quantitative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4-tier architecture: Data Tier (sources), Processing Tier (agents), Orchestration Tier (LangGraph), Interface Tier (React + FastAPI)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agents orchestrated via LangGraph StateGraph. Stateful, checkpointed, conditional edge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IsolationForest for unsupervised anomaly detection (AUC 0.896), RandomForest for multi-class RCA (F1 0.980).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fully supported: 94.4% MTTR reduction from 2378s → 134s. Large effect size d=3.76.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5 hypotheses met or exceeded targets. 4 summary stats below show breadth of achievement.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HITL: human-in-the-loop approval panel. Analyst: NL-to-SQL for plain-language diagnostics. Observability: real-time pipeline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learning agent ingests resolved incidents into ChromaDB. 68.8% MTTR improvement after 30 days of operation (H5 supported).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research contributions: novel architecture, hybrid ML, RAG, NL-to-SQL, HITL governance, open-source artefact.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all 5 hypotheses validated. Limitations: single-site, synthetic data, NL-to-SQL Hard gap. Future: multi-tenant, federated, external replication.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Comparison: Airflow/dbt lack ML anomaly detection and auto-heal. Renggli monitors but cannot diagnose or fix. AutoGen/LangGraph lack pipeline-domain specifics. OrchestrAI is first to combine all 5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Walkthrough a single incident: detection triggers at ~45s, Groq diagnosis at 72s, fix written at 98s, engineer approves at 118s, fix deployed at 126s, learned into RAG at 134s. Total 134s vs 2378s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Experimental design: 50 synthetic incidents, 5 failure types × 10 reps each, 3-way ablation. Wilcoxon signed-rank test (non-parametric). Effect size r=0.89. Threats: single-site, synthetic data. Reproducibility: full open-source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645920"/>
            <a:ext cx="5486400" cy="54864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822960"/>
            <a:ext cx="3840480" cy="3840480"/>
          </a:xfrm>
          <a:prstGeom prst="ellipse">
            <a:avLst/>
          </a:prstGeom>
          <a:solidFill>
            <a:srgbClr val="152E4D"/>
          </a:solidFill>
          <a:ln w="12700">
            <a:solidFill>
              <a:srgbClr val="152E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4736592"/>
            <a:ext cx="137160" cy="1371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736592"/>
            <a:ext cx="137160" cy="1371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4736592"/>
            <a:ext cx="137160" cy="1371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4736592"/>
            <a:ext cx="137160" cy="1371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7904" y="4736592"/>
            <a:ext cx="137160" cy="1371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0512" y="4736592"/>
            <a:ext cx="137160" cy="1371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pic>
        <p:nvPicPr>
          <p:cNvPr id="11" name="Image 0" descr="/sessions/friendly-fervent-cray/mnt/outputs/docx_gen/imgs/bit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822960" cy="822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Pilani, WILP  •  MTech Computer Science  •  Final Viva 2026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" y="96012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OrchestrAI</a:t>
            </a:r>
            <a:endParaRPr lang="en-US" sz="6800" dirty="0"/>
          </a:p>
        </p:txBody>
      </p:sp>
      <p:sp>
        <p:nvSpPr>
          <p:cNvPr id="14" name="Text 11"/>
          <p:cNvSpPr/>
          <p:nvPr/>
        </p:nvSpPr>
        <p:spPr>
          <a:xfrm>
            <a:off x="347472" y="2121408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Multi-Agent AI Platform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Self-Healing Data Pipelines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" y="3127248"/>
            <a:ext cx="4754880" cy="36576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7472" y="325526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Parthiv Patel</a:t>
            </a:r>
            <a:pPr indent="0" marL="0">
              <a:buNone/>
            </a:pPr>
            <a:r>
              <a:rPr lang="en-US" sz="15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2024HT01163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47472" y="35935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Vinayak Bamane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7472" y="3931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Hevo Technologies India Pvt. Ltd., Bengaluru   • 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autonomous self-healing pipelines matter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788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sprint capacity lost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pipeline incidents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960120"/>
            <a:ext cx="2788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2,378s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246120" y="1810512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MTTR 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960120"/>
            <a:ext cx="27889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$1.7M+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217920" y="1810512"/>
            <a:ext cx="2788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(Gartner 2023)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2679192"/>
            <a:ext cx="8631936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06624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Manual triage bottleneck — engineers interrupted during sprint delivery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56032" y="3118104"/>
            <a:ext cx="8631936" cy="393192"/>
          </a:xfrm>
          <a:prstGeom prst="rect">
            <a:avLst/>
          </a:prstGeom>
          <a:solidFill>
            <a:srgbClr val="EFF6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45536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Rule-based monitors generate excessive false positives and miss novel failures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6032" y="3557016"/>
            <a:ext cx="8631936" cy="39319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584448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self-healing capability — every incident requires human intervention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56032" y="3995928"/>
            <a:ext cx="8631936" cy="393192"/>
          </a:xfrm>
          <a:prstGeom prst="rect">
            <a:avLst/>
          </a:prstGeom>
          <a:solidFill>
            <a:srgbClr val="EFF6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023360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Repeat failures recur; no institutional memory preserved across incidents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56032" y="4663440"/>
            <a:ext cx="8631936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6817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Can a stateful multi-agent LLM system autonomously detect, diagnose, and resolve data pipeline failures with minimal human intervention?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Methodology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Science Research framework with 6 research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023360" cy="4069080"/>
          </a:xfrm>
          <a:prstGeom prst="roundRect">
            <a:avLst>
              <a:gd name="adj" fmla="val 272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50976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Science Research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9047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Awareness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0992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interviews + incident log analysis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130552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5798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Suggestion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6-agent LangGraph architecture design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798064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2549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Development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0449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+ RandomForest + RAG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465576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1246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experiments (N=50 incidents)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133088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6052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7997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validated; artefacts published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80560" y="91440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462272" y="1325880"/>
            <a:ext cx="4434840" cy="530352"/>
          </a:xfrm>
          <a:prstGeom prst="roundRect">
            <a:avLst>
              <a:gd name="adj" fmla="val 15517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272" y="1325880"/>
            <a:ext cx="566928" cy="530352"/>
          </a:xfrm>
          <a:prstGeom prst="roundRect">
            <a:avLst>
              <a:gd name="adj" fmla="val 1551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132588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13624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AUC ≥ 0.80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62272" y="1929384"/>
            <a:ext cx="4434840" cy="530352"/>
          </a:xfrm>
          <a:prstGeom prst="roundRect">
            <a:avLst>
              <a:gd name="adj" fmla="val 15517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2272" y="1929384"/>
            <a:ext cx="566928" cy="530352"/>
          </a:xfrm>
          <a:prstGeom prst="roundRect">
            <a:avLst>
              <a:gd name="adj" fmla="val 1551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62272" y="1929384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02352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Classification — F1 ≥ 0.90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62272" y="2532888"/>
            <a:ext cx="4434840" cy="530352"/>
          </a:xfrm>
          <a:prstGeom prst="roundRect">
            <a:avLst>
              <a:gd name="adj" fmla="val 15517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2532888"/>
            <a:ext cx="566928" cy="530352"/>
          </a:xfrm>
          <a:prstGeom prst="roundRect">
            <a:avLst>
              <a:gd name="adj" fmla="val 1551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25328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02352" y="25694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 — ≥ 80% vs baseline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62272" y="3136392"/>
            <a:ext cx="4434840" cy="530352"/>
          </a:xfrm>
          <a:prstGeom prst="roundRect">
            <a:avLst>
              <a:gd name="adj" fmla="val 15517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62272" y="3136392"/>
            <a:ext cx="566928" cy="530352"/>
          </a:xfrm>
          <a:prstGeom prst="roundRect">
            <a:avLst>
              <a:gd name="adj" fmla="val 1551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62272" y="3136392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02352" y="31729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Accuracy — ≥ 70% overall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62272" y="3739896"/>
            <a:ext cx="4434840" cy="530352"/>
          </a:xfrm>
          <a:prstGeom prst="roundRect">
            <a:avLst>
              <a:gd name="adj" fmla="val 15517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62272" y="3739896"/>
            <a:ext cx="566928" cy="530352"/>
          </a:xfrm>
          <a:prstGeom prst="roundRect">
            <a:avLst>
              <a:gd name="adj" fmla="val 1551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2272" y="3739896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02352" y="37764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Continual Learning — improve over 30 days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462272" y="4343400"/>
            <a:ext cx="4434840" cy="530352"/>
          </a:xfrm>
          <a:prstGeom prst="roundRect">
            <a:avLst>
              <a:gd name="adj" fmla="val 15517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62272" y="4343400"/>
            <a:ext cx="566928" cy="530352"/>
          </a:xfrm>
          <a:prstGeom prst="roundRect">
            <a:avLst>
              <a:gd name="adj" fmla="val 15517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62272" y="4343400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02352" y="43799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Acceptance Rate — ≥ 85%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47472" y="594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Production Architecture  •  FastAPI · LangGraph · PostgreSQL · ChromaDB · React</a:t>
            </a:r>
            <a:endParaRPr lang="en-US" sz="1150" dirty="0"/>
          </a:p>
        </p:txBody>
      </p:sp>
      <p:pic>
        <p:nvPicPr>
          <p:cNvPr id="5" name="Image 0" descr="/sessions/friendly-fervent-cray/mnt/outputs/docx_gen/imgs/fig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877824"/>
            <a:ext cx="64008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Orchestration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specialised agents with stateful graph execution</a:t>
            </a:r>
            <a:endParaRPr lang="en-US" sz="1200" dirty="0"/>
          </a:p>
        </p:txBody>
      </p:sp>
      <p:pic>
        <p:nvPicPr>
          <p:cNvPr id="6" name="Image 0" descr="/sessions/friendly-fervent-cray/mnt/outputs/docx_gen/imgs/fig2_agent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77824"/>
            <a:ext cx="8686800" cy="31363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114800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413308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28600" y="44439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618488" y="4114800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18488" y="413308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18488" y="44439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08376" y="4114800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08376" y="413308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008376" y="44439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98264" y="4114800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98264" y="413308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398264" y="44439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788152" y="4114800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88152" y="413308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788152" y="44439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178040" y="4114800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78040" y="413308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78040" y="444398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Detection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Two-tier: Unsupervised anomaly detection → Supervised root-cause classification</a:t>
            </a:r>
            <a:endParaRPr lang="en-US" sz="1200" dirty="0"/>
          </a:p>
        </p:txBody>
      </p:sp>
      <p:pic>
        <p:nvPicPr>
          <p:cNvPr id="6" name="Image 0" descr="/sessions/friendly-fervent-cray/mnt/outputs/docx_gen/imgs/fig3_ml_pipelin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86968"/>
            <a:ext cx="6217920" cy="2917850"/>
          </a:xfrm>
          <a:prstGeom prst="rect">
            <a:avLst/>
          </a:prstGeom>
        </p:spPr>
      </p:pic>
      <p:pic>
        <p:nvPicPr>
          <p:cNvPr id="7" name="Image 1" descr="/sessions/friendly-fervent-cray/mnt/outputs/docx_gen/imgs/fig6_f1_sco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886968"/>
            <a:ext cx="2468880" cy="12252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96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by Anomaly Class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537960" y="246888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24871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7960" y="272491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Classes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537960" y="3035808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37960" y="30540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329184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(IF)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537960" y="3602736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37960" y="36210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37960" y="38587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Threshold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28600" y="4160520"/>
            <a:ext cx="2011680" cy="786384"/>
          </a:xfrm>
          <a:prstGeom prst="roundRect">
            <a:avLst>
              <a:gd name="adj" fmla="val 1162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28600" y="416966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228600" y="4590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AUC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414016" y="4160520"/>
            <a:ext cx="2011680" cy="786384"/>
          </a:xfrm>
          <a:prstGeom prst="roundRect">
            <a:avLst>
              <a:gd name="adj" fmla="val 11628"/>
            </a:avLst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414016" y="416966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2414016" y="4590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F1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99432" y="4160520"/>
            <a:ext cx="2011680" cy="786384"/>
          </a:xfrm>
          <a:prstGeom prst="roundRect">
            <a:avLst>
              <a:gd name="adj" fmla="val 1162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99432" y="416966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4599432" y="4590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784848" y="4160520"/>
            <a:ext cx="2011680" cy="786384"/>
          </a:xfrm>
          <a:prstGeom prst="roundRect">
            <a:avLst>
              <a:gd name="adj" fmla="val 11628"/>
            </a:avLst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784848" y="416966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</a:t>
            </a:r>
            <a:endParaRPr lang="en-US" sz="2600" dirty="0"/>
          </a:p>
        </p:txBody>
      </p:sp>
      <p:sp>
        <p:nvSpPr>
          <p:cNvPr id="29" name="Text 25"/>
          <p:cNvSpPr/>
          <p:nvPr/>
        </p:nvSpPr>
        <p:spPr>
          <a:xfrm>
            <a:off x="6784848" y="4590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MTTR Reduction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6035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hypothesis H3 — statistically significant (p &lt; 0.001, Cohen's d = 3.76)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2011680"/>
          </a:xfrm>
          <a:prstGeom prst="roundRect">
            <a:avLst>
              <a:gd name="adj" fmla="val 6818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274320" y="223113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  |   Cohen's d = 3.76   |   N = 50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3D0000"/>
          </a:solidFill>
          <a:ln w="12700">
            <a:solidFill>
              <a:srgbClr val="3D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2004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2,378s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432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MTTR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3154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2697480" y="2926080"/>
            <a:ext cx="1828800" cy="1143000"/>
          </a:xfrm>
          <a:prstGeom prst="roundRect">
            <a:avLst>
              <a:gd name="adj" fmla="val 8000"/>
            </a:avLst>
          </a:prstGeom>
          <a:solidFill>
            <a:srgbClr val="003D00"/>
          </a:solidFill>
          <a:ln w="12700">
            <a:solidFill>
              <a:srgbClr val="003D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944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32004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69748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MTTR</a:t>
            </a:r>
            <a:endParaRPr lang="en-US" sz="1000" dirty="0"/>
          </a:p>
        </p:txBody>
      </p:sp>
      <p:pic>
        <p:nvPicPr>
          <p:cNvPr id="18" name="Image 0" descr="/sessions/friendly-fervent-cray/mnt/outputs/docx_gen/imgs/fig4_mttr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886968"/>
            <a:ext cx="4434840" cy="241812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480560" y="3401568"/>
            <a:ext cx="4434840" cy="438912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0" y="340156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  |  r = 0.89 (large effect)  |  95% CI [2,058s, 2,420s]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480560" y="3913632"/>
            <a:ext cx="4434840" cy="438912"/>
          </a:xfrm>
          <a:prstGeom prst="roundRect">
            <a:avLst>
              <a:gd name="adj" fmla="val 16667"/>
            </a:avLst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3913632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 (manual baseline) vs Config C (OrchestrAI full) — ablation across 3 configs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Hypotheses Supported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experiments — N = 50 synthetic pipeline incidents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788920" cy="420624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914400"/>
            <a:ext cx="2679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44952" y="914400"/>
            <a:ext cx="1691640" cy="420624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914400"/>
            <a:ext cx="1581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36592" y="914400"/>
            <a:ext cx="1234440" cy="420624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914400"/>
            <a:ext cx="11247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71032" y="914400"/>
            <a:ext cx="1417320" cy="420624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5896" y="914400"/>
            <a:ext cx="1307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88352" y="914400"/>
            <a:ext cx="822960" cy="420624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43216" y="914400"/>
            <a:ext cx="713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" y="1335024"/>
            <a:ext cx="278892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1335024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Anomaly Detection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44952" y="1335024"/>
            <a:ext cx="169164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9816" y="133502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592" y="1335024"/>
            <a:ext cx="123444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335024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71032" y="1335024"/>
            <a:ext cx="141732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5896" y="1335024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88352" y="1335024"/>
            <a:ext cx="82296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133502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56032" y="1837944"/>
            <a:ext cx="278892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1837944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Root-Cause Classification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44952" y="1837944"/>
            <a:ext cx="169164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9816" y="183794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36592" y="1837944"/>
            <a:ext cx="123444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1837944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71032" y="1837944"/>
            <a:ext cx="141732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25896" y="1837944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88352" y="1837944"/>
            <a:ext cx="82296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183794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56032" y="2340864"/>
            <a:ext cx="278892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2340864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MTTR Reduction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44952" y="2340864"/>
            <a:ext cx="169164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99816" y="234086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Reduction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36592" y="2340864"/>
            <a:ext cx="123444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2340864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71032" y="2340864"/>
            <a:ext cx="141732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25896" y="2340864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88352" y="2340864"/>
            <a:ext cx="82296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3216" y="234086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256032" y="2843784"/>
            <a:ext cx="278892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843784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H4: NL-to-SQL Accuracy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44952" y="2843784"/>
            <a:ext cx="169164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99816" y="284378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36592" y="2843784"/>
            <a:ext cx="123444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91456" y="2843784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971032" y="2843784"/>
            <a:ext cx="141732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25896" y="2843784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88352" y="2843784"/>
            <a:ext cx="822960" cy="502920"/>
          </a:xfrm>
          <a:prstGeom prst="rect">
            <a:avLst/>
          </a:prstGeom>
          <a:solidFill>
            <a:srgbClr val="EFF6FB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43216" y="284378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256032" y="3346704"/>
            <a:ext cx="278892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3346704"/>
            <a:ext cx="2679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H5: RAG Continual Learning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44952" y="3346704"/>
            <a:ext cx="169164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99816" y="3346704"/>
            <a:ext cx="1581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Δ / 30d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736592" y="3346704"/>
            <a:ext cx="123444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3346704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971032" y="3346704"/>
            <a:ext cx="141732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25896" y="3346704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5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−68.8%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388352" y="3346704"/>
            <a:ext cx="82296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43216" y="334670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256032" y="4050792"/>
            <a:ext cx="8631936" cy="896112"/>
          </a:xfrm>
          <a:prstGeom prst="roundRect">
            <a:avLst>
              <a:gd name="adj" fmla="val 10204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3232" y="407822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2400" dirty="0"/>
          </a:p>
        </p:txBody>
      </p:sp>
      <p:sp>
        <p:nvSpPr>
          <p:cNvPr id="68" name="Text 66"/>
          <p:cNvSpPr/>
          <p:nvPr/>
        </p:nvSpPr>
        <p:spPr>
          <a:xfrm>
            <a:off x="713232" y="4498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862072" y="407822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</a:t>
            </a:r>
            <a:endParaRPr lang="en-US" sz="2400" dirty="0"/>
          </a:p>
        </p:txBody>
      </p:sp>
      <p:sp>
        <p:nvSpPr>
          <p:cNvPr id="70" name="Text 68"/>
          <p:cNvSpPr/>
          <p:nvPr/>
        </p:nvSpPr>
        <p:spPr>
          <a:xfrm>
            <a:off x="2862072" y="4498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F1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010912" y="407822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80.0%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5010912" y="4498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Acc.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159752" y="407822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85.3%</a:t>
            </a:r>
            <a:endParaRPr lang="en-US" sz="2400" dirty="0"/>
          </a:p>
        </p:txBody>
      </p:sp>
      <p:sp>
        <p:nvSpPr>
          <p:cNvPr id="74" name="Text 72"/>
          <p:cNvSpPr/>
          <p:nvPr/>
        </p:nvSpPr>
        <p:spPr>
          <a:xfrm>
            <a:off x="7159752" y="4498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Acceptance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Interfaces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approval workflow  •  Natural language analyst  •  Observability dashboard</a:t>
            </a:r>
            <a:endParaRPr lang="en-US" sz="1200" dirty="0"/>
          </a:p>
        </p:txBody>
      </p:sp>
      <p:pic>
        <p:nvPicPr>
          <p:cNvPr id="6" name="Image 0" descr="/sessions/friendly-fervent-cray/mnt/outputs/docx_gen/imgs/ss_approv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86968"/>
            <a:ext cx="4572000" cy="2857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3794760"/>
            <a:ext cx="4572000" cy="621792"/>
          </a:xfrm>
          <a:prstGeom prst="roundRect">
            <a:avLst>
              <a:gd name="adj" fmla="val 13235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3813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Approval Interface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28600" y="40782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85.3% acceptance rate  •  Configurable confidence thresholds</a:t>
            </a:r>
            <a:endParaRPr lang="en-US" sz="1050" dirty="0"/>
          </a:p>
        </p:txBody>
      </p:sp>
      <p:pic>
        <p:nvPicPr>
          <p:cNvPr id="10" name="Image 1" descr="/sessions/friendly-fervent-cray/mnt/outputs/docx_gen/imgs/ss_analy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886968"/>
            <a:ext cx="3931920" cy="24574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83480" y="3383280"/>
            <a:ext cx="3931920" cy="621792"/>
          </a:xfrm>
          <a:prstGeom prst="roundRect">
            <a:avLst>
              <a:gd name="adj" fmla="val 13235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83480" y="3401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Analyst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83480" y="3666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NL-to-SQL: 80% accuracy  •  Plain-language pipeline diagnostics</a:t>
            </a:r>
            <a:endParaRPr lang="en-US" sz="1050" dirty="0"/>
          </a:p>
        </p:txBody>
      </p:sp>
      <p:pic>
        <p:nvPicPr>
          <p:cNvPr id="14" name="Image 2" descr="/sessions/friendly-fervent-cray/mnt/outputs/docx_gen/imgs/ss_observabi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114800"/>
            <a:ext cx="3931920" cy="8961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&amp; Continual Improvement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RAG-augmented incident memory — 30-day longitudinal validation</a:t>
            </a:r>
            <a:endParaRPr lang="en-US" sz="1200" dirty="0"/>
          </a:p>
        </p:txBody>
      </p:sp>
      <p:pic>
        <p:nvPicPr>
          <p:cNvPr id="6" name="Image 0" descr="/sessions/friendly-fervent-cray/mnt/outputs/docx_gen/imgs/fig5_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86968"/>
            <a:ext cx="5486400" cy="2468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886968"/>
            <a:ext cx="3017520" cy="1463040"/>
          </a:xfrm>
          <a:prstGeom prst="roundRect">
            <a:avLst>
              <a:gd name="adj" fmla="val 7500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8869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5897880" y="1810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improvement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30 days of RAG learning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97880" y="2432304"/>
            <a:ext cx="3017520" cy="576072"/>
          </a:xfrm>
          <a:prstGeom prst="roundRect">
            <a:avLst>
              <a:gd name="adj" fmla="val 14286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4505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26883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incidents vectorized into ChromaDB knowledge base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3081528"/>
            <a:ext cx="3017520" cy="576072"/>
          </a:xfrm>
          <a:prstGeom prst="roundRect">
            <a:avLst>
              <a:gd name="adj" fmla="val 14286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309981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33375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Cosine-similarity ranking surfaces most relevant past cases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3730752"/>
            <a:ext cx="3017520" cy="576072"/>
          </a:xfrm>
          <a:prstGeom prst="roundRect">
            <a:avLst>
              <a:gd name="adj" fmla="val 14286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7490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39867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context enriched with historical resolution steps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97880" y="4379976"/>
            <a:ext cx="3017520" cy="576072"/>
          </a:xfrm>
          <a:prstGeom prst="roundRect">
            <a:avLst>
              <a:gd name="adj" fmla="val 14286"/>
            </a:avLst>
          </a:prstGeom>
          <a:solidFill>
            <a:srgbClr val="D6EAF8"/>
          </a:solidFill>
          <a:ln w="12700">
            <a:solidFill>
              <a:srgbClr val="C8DC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439826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46360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learning curve — monotonic MTTR decline confirmed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28600" y="341071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5: MTTR learning curve — 30-day longitudinal study, N=50 incidents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28600" y="370332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8600" y="372160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28600" y="4114800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MTTR: 2,378s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591056" y="370332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91056" y="372160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591056" y="4114800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1,490s  (−37%)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953512" y="370332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53512" y="372160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953512" y="4114800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980s    (−59%)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315968" y="3703320"/>
            <a:ext cx="1298448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15968" y="372160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315968" y="4114800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740s    (−69%)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017520"/>
            <a:ext cx="2926080" cy="292608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972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04672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04672"/>
            <a:ext cx="5669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89611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6-Agent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20700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application of stateful LangGraph to end-to-end self-healing data pipeline management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804672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804672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804672"/>
            <a:ext cx="5669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89611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ML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20700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(AUC 0.896) + RandomForest (F1 0.980) hybrid for unsupervised + supervised RCA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221992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221992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221992"/>
            <a:ext cx="5669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31343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Incident 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62432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knowledge base enabling 68.8% MTTR reduction via continual reinforcement learning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2221992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2221992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2221992"/>
            <a:ext cx="5669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31343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 Analyst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262432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diagnostic queries achieving 80% accuracy on pipeline-domain questions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3639312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639312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639312"/>
            <a:ext cx="5669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73075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Governance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04164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approval thresholds; 85.3% engineer acceptance of AI-recommended remediations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639312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90872" y="3639312"/>
            <a:ext cx="566928" cy="1298448"/>
          </a:xfrm>
          <a:prstGeom prst="roundRect">
            <a:avLst>
              <a:gd name="adj" fmla="val 16129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3639312"/>
            <a:ext cx="56692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73075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Artefact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404164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codebase + 1,500-incident synthetic benchmark dataset for replication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3931920"/>
            <a:ext cx="4572000" cy="45720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4" name="Image 0" descr="/sessions/friendly-fervent-cray/mnt/outputs/docx_gen/imgs/bit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4592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645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320040" y="850392"/>
            <a:ext cx="8503920" cy="987552"/>
          </a:xfrm>
          <a:prstGeom prst="roundRect">
            <a:avLst>
              <a:gd name="adj" fmla="val 11111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6868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OrchestrAI demonstrates that a stateful multi-agent LLM system can achieve 94.4% MTTR reduction, 0.980 F1 root-cause accuracy, 80% NL-to-SQL accuracy and 85.3% HITL acceptance — validating all 5 research hypotheses in a controlled production environment.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" y="1965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" y="2395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Multi-tenant SaaS deployment with per-tenant HITL policies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" y="27980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Federated learning across enterprise data teams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" y="3200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Multi-institution benchmark validation beyond Hevo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" y="36027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Hard NL-to-SQL: target ≥ 70% on BIRD/Spider Hard subsets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1965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846320" y="23957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Single-institution study (Hevo Technologies, Bengaluru)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279806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Synthetic incident data — external generalisability pending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3200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NL-to-SQL Hard: 60% achieved vs 70% target (gap noted)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360273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LLM API latency at peak load not yet characterised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377440" y="4407408"/>
            <a:ext cx="4389120" cy="576072"/>
          </a:xfrm>
          <a:prstGeom prst="roundRect">
            <a:avLst>
              <a:gd name="adj" fmla="val 23810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377440" y="4407408"/>
            <a:ext cx="4389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Research Gap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OrchestrAI against existing literature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13232"/>
                <a:gridCol w="713232"/>
                <a:gridCol w="713232"/>
                <a:gridCol w="713232"/>
                <a:gridCol w="71323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Mem.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Auto-Heal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Airflow / dbt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Renggli et al. (MLSys 2021)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 / LangGraph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 et al. (VLDB 2024)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OrchestrAI (this work)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IF+RF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960120"/>
            <a:ext cx="2880360" cy="1417320"/>
          </a:xfrm>
          <a:prstGeom prst="roundRect">
            <a:avLst>
              <a:gd name="adj" fmla="val 645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129844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combines stateful LLM agents + hybrid ML anomaly detection + RAG incident memory + configurable HITL governance in a production data pipeline context.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2487168"/>
            <a:ext cx="2880360" cy="1115568"/>
          </a:xfrm>
          <a:prstGeom prst="roundRect">
            <a:avLst>
              <a:gd name="adj" fmla="val 819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2532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Citations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2834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Renggli et al. — Continuous ML monitoring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26480" y="302666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Chase (2023) — LangChain/LangGraph agents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26480" y="321868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Lewis et al. (2020) — RAG framework (RAG)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26480" y="3410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Xu et al. (2022) — HITL ML systems survey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388620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904488"/>
            <a:ext cx="83210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First system to integrate IsolationForest + RandomForest RCA + ChromaDB RAG + WebSocket HITL in a unified LangGraph stateful pipeline healing architecture.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Healing Walkthrough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incident — from detection to resolution in 134 seconds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1316736" cy="3474720"/>
          </a:xfrm>
          <a:prstGeom prst="roundRect">
            <a:avLst>
              <a:gd name="adj" fmla="val 6944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9875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" y="162763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202996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299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0–45s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5176" y="2359152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scores pipeline metrics; score ≥ 0.65 triggers alert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17904" y="1737360"/>
            <a:ext cx="155448" cy="0"/>
          </a:xfrm>
          <a:prstGeom prst="line">
            <a:avLst/>
          </a:prstGeom>
          <a:noFill/>
          <a:ln w="25400">
            <a:solidFill>
              <a:srgbClr val="00C4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73352" y="914400"/>
            <a:ext cx="1316736" cy="3474720"/>
          </a:xfrm>
          <a:prstGeom prst="roundRect">
            <a:avLst>
              <a:gd name="adj" fmla="val 6944"/>
            </a:avLst>
          </a:prstGeom>
          <a:solidFill>
            <a:srgbClr val="9B2226"/>
          </a:solidFill>
          <a:ln w="12700">
            <a:solidFill>
              <a:srgbClr val="9B22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48256" y="9875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19072" y="162763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19656" y="202996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9656" y="20299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45–72s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737360" y="2359152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+ ChromaDB RAG identifies ZERO_LOAD root-cause narrative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90088" y="1737360"/>
            <a:ext cx="155448" cy="0"/>
          </a:xfrm>
          <a:prstGeom prst="line">
            <a:avLst/>
          </a:prstGeom>
          <a:noFill/>
          <a:ln w="25400">
            <a:solidFill>
              <a:srgbClr val="00C4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45536" y="914400"/>
            <a:ext cx="1316736" cy="3474720"/>
          </a:xfrm>
          <a:prstGeom prst="roundRect">
            <a:avLst>
              <a:gd name="adj" fmla="val 6944"/>
            </a:avLst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9875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191256" y="162763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91840" y="202996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299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72–98s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9544" y="2359152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Writer Agent generates Python repair script via LLM + code context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62272" y="1737360"/>
            <a:ext cx="155448" cy="0"/>
          </a:xfrm>
          <a:prstGeom prst="line">
            <a:avLst/>
          </a:prstGeom>
          <a:noFill/>
          <a:ln w="25400">
            <a:solidFill>
              <a:srgbClr val="00C4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914400"/>
            <a:ext cx="1316736" cy="3474720"/>
          </a:xfrm>
          <a:prstGeom prst="roundRect">
            <a:avLst>
              <a:gd name="adj" fmla="val 6944"/>
            </a:avLst>
          </a:prstGeom>
          <a:solidFill>
            <a:srgbClr val="9C6B00"/>
          </a:solidFill>
          <a:ln w="12700">
            <a:solidFill>
              <a:srgbClr val="9C6B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92624" y="9875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663440" y="162763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64024" y="202996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20299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98–118s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81728" y="2359152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reviews via Approval UI; WebSocket push, 85.3% accept rate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34456" y="1737360"/>
            <a:ext cx="155448" cy="0"/>
          </a:xfrm>
          <a:prstGeom prst="line">
            <a:avLst/>
          </a:prstGeom>
          <a:noFill/>
          <a:ln w="25400">
            <a:solidFill>
              <a:srgbClr val="00C4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9904" y="914400"/>
            <a:ext cx="1316736" cy="3474720"/>
          </a:xfrm>
          <a:prstGeom prst="roundRect">
            <a:avLst>
              <a:gd name="adj" fmla="val 694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4808" y="9875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135624" y="162763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36208" y="202996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20299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118–126s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53912" y="2359152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Agent applies fix, triggers pipeline re-run, monitors result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06640" y="1737360"/>
            <a:ext cx="155448" cy="0"/>
          </a:xfrm>
          <a:prstGeom prst="line">
            <a:avLst/>
          </a:prstGeom>
          <a:noFill/>
          <a:ln w="25400">
            <a:solidFill>
              <a:srgbClr val="00C4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62088" y="914400"/>
            <a:ext cx="1316736" cy="3474720"/>
          </a:xfrm>
          <a:prstGeom prst="roundRect">
            <a:avLst>
              <a:gd name="adj" fmla="val 6944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36992" y="98755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36992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607808" y="162763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708392" y="2029968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08392" y="20299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126–134s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626096" y="2359152"/>
            <a:ext cx="1188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vectorized into ChromaDB; strategy weights updated in DB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01168" y="4517136"/>
            <a:ext cx="4069080" cy="502920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" y="4517136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baseline:  avg 2,378s  (39.6 min)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80560" y="4517136"/>
            <a:ext cx="4462272" cy="502920"/>
          </a:xfrm>
          <a:prstGeom prst="roundRect">
            <a:avLst>
              <a:gd name="adj" fmla="val 1818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4517136"/>
            <a:ext cx="4462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OrchestrAI:  avg 134s  (2.2 min)  — 94.4% faster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6FB"/>
          </a:solidFill>
          <a:ln w="12700">
            <a:solidFill>
              <a:srgbClr val="EFF6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 &amp; Reproducibility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setup — synthetic injection harness at Hevo Technologies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4160520" cy="2331720"/>
          </a:xfrm>
          <a:prstGeom prst="roundRect">
            <a:avLst>
              <a:gd name="adj" fmla="val 3922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332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Injection Harness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99032"/>
            <a:ext cx="3886200" cy="329184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264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NULL_SPIKE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65960" y="142646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null ratio surge in source 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94760" y="142646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3886200" cy="329184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801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ROW_COUNT_DROP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65960" y="18013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 falls &gt;50% vs rolling avg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94760" y="180136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3886200" cy="329184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176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ZERO_LOAD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217627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loads 0 records for ≥3 runs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17627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523744"/>
            <a:ext cx="3886200" cy="329184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5511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CONSEC_FAILURES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65960" y="255117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consecutive pipeline run failures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94760" y="255117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898648"/>
            <a:ext cx="3886200" cy="329184"/>
          </a:xfrm>
          <a:prstGeom prst="roundRect">
            <a:avLst>
              <a:gd name="adj" fmla="val 1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926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PIPELINE_DELAY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65960" y="2926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duration &gt; 2σ above rolling mean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94760" y="29260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401568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4472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= 50 incidents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376732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failure types × 10 reps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87168" y="34472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DuckDB warehouse (4,120 records)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87168" y="376732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Hevo Technologies context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987552"/>
            <a:ext cx="4251960" cy="1243584"/>
          </a:xfrm>
          <a:prstGeom prst="roundRect">
            <a:avLst>
              <a:gd name="adj" fmla="val 73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03327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Configurations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36592" y="1371600"/>
            <a:ext cx="274320" cy="2286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1371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65776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Baseline  —  Engineers resolve incidents manually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27264" y="1371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2,378s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36592" y="1645920"/>
            <a:ext cx="274320" cy="2286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16459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65776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Only  —  Threshold alerts; no LLM / HITL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27264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601s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36592" y="1920240"/>
            <a:ext cx="274320" cy="22860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19202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65776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OrchestrAI Full  —  All 6 agents + RAG + HITL enabled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827264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134s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2331720"/>
            <a:ext cx="4251960" cy="1417320"/>
          </a:xfrm>
          <a:prstGeom prst="roundRect">
            <a:avLst>
              <a:gd name="adj" fmla="val 6452"/>
            </a:avLst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37744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Validity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754880" y="27614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87568" y="2761488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 (non-parametric, paired)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54880" y="29992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87568" y="299923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0.89 — large effect (Cohen, 1988)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54880" y="323697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687568" y="3236976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[2,058s, 2,420s] MTTR reduction range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754880" y="347472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NL-to-SQL: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687568" y="347472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Spider v1.0 Qs — Easy + Medium subset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617720" y="3840480"/>
            <a:ext cx="4251960" cy="804672"/>
          </a:xfrm>
          <a:prstGeom prst="roundRect">
            <a:avLst>
              <a:gd name="adj" fmla="val 11364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87705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Validity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754880" y="4114800"/>
            <a:ext cx="3977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Internal: synthetic incidents may not capture all edge cases.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single-institution (Hevo); replication at other orgs pending.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6032" y="4233672"/>
            <a:ext cx="4160520" cy="676656"/>
          </a:xfrm>
          <a:prstGeom prst="roundRect">
            <a:avLst>
              <a:gd name="adj" fmla="val 13514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270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11480" y="4507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 + 1,500-incident synthetic dataset + Docker Compose released as open-source artefact.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2026-07-31T12:38:12Z</dcterms:created>
  <dcterms:modified xsi:type="dcterms:W3CDTF">2026-07-31T12:38:12Z</dcterms:modified>
</cp:coreProperties>
</file>